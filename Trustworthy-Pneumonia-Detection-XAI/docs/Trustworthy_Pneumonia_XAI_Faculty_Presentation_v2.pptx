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000"/>
                </a:solidFill>
                <a:latin typeface="Calibri"/>
              </a:rPr>
              <a:t>COURSE PROJECT  ·  HEALTH CARE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Trustworthy Deep Learning System for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Chest X-Ray Pneumonia Detection</a:t>
            </a:r>
          </a:p>
          <a:p>
            <a:r>
              <a:rPr sz="1800" b="0">
                <a:solidFill>
                  <a:srgbClr val="BAD2DC"/>
                </a:solidFill>
                <a:latin typeface="Calibri"/>
              </a:rPr>
              <a:t>A calibrated and explainable AI (XAI)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C000"/>
                </a:solidFill>
                <a:latin typeface="Calibri"/>
              </a:rPr>
              <a:t>Team Members</a:t>
            </a:r>
          </a:p>
          <a:p>
            <a:r>
              <a:rPr sz="2000" b="1">
                <a:solidFill>
                  <a:srgbClr val="FFFFFF"/>
                </a:solidFill>
                <a:latin typeface="Calibri"/>
              </a:rPr>
              <a:t>Goutham Kumar   ·   Adhithiyan C   ·   Vaibhav Pk   ·   Yadarth Sangem</a:t>
            </a:r>
          </a:p>
          <a:p>
            <a:r>
              <a:rPr sz="1400" b="0">
                <a:solidFill>
                  <a:srgbClr val="B0BECC"/>
                </a:solidFill>
                <a:latin typeface="Calibri"/>
              </a:rPr>
              <a:t>This presentation is written to be readable on its own: each slide explains the concept, why it matters in healthcare, and how we implemented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The clinical problem.   </a:t>
            </a:r>
            <a:r>
              <a:rPr sz="1600" b="0">
                <a:solidFill>
                  <a:srgbClr val="000000"/>
                </a:solidFill>
                <a:latin typeface="Calibri"/>
              </a:rPr>
              <a:t>Pneumonia screening from chest X-rays, and why a raw CNN score is not enough for healthcare.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Accuracy is not trust.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Overconfidence, silent failures, and black-box decisions.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The four safety layers.   </a:t>
            </a:r>
            <a:r>
              <a:rPr sz="1600" b="0">
                <a:solidFill>
                  <a:srgbClr val="000000"/>
                </a:solidFill>
                <a:latin typeface="Calibri"/>
              </a:rPr>
              <a:t>Classification, calibration, explainability, and trust assessment.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Core methods, explained.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ResNet18, temperature scaling, Grad-CAM, FocusScore, MC Dropout, ensemble agreement, TrustEngine, OOD flags.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How we evaluate and demo.   </a:t>
            </a:r>
            <a:r>
              <a:rPr sz="1600" b="0">
                <a:solidFill>
                  <a:srgbClr val="000000"/>
                </a:solidFill>
                <a:latin typeface="Calibri"/>
              </a:rPr>
              <a:t>Metrics, reliability diagrams, Colab pipeline, and a Streamlit interface.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Limits and next steps.   </a:t>
            </a:r>
            <a:r>
              <a:rPr sz="1600" b="0">
                <a:solidFill>
                  <a:srgbClr val="000000"/>
                </a:solidFill>
                <a:latin typeface="Calibri"/>
              </a:rPr>
              <a:t>This is a research prototype, not a licensed clinical device.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 / 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Clinical problem: pneumonia on chest X-rays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What pneumonia is.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An infection that fills air sacs with fluid or pus. Chest radiographs are a first-line, widely available screening tool.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What the model does.   </a:t>
            </a:r>
            <a:r>
              <a:rPr sz="1600" b="0">
                <a:solidFill>
                  <a:srgbClr val="000000"/>
                </a:solidFill>
                <a:latin typeface="Calibri"/>
              </a:rPr>
              <a:t>Binary classification: NORMAL vs PNEUMONIA from a single frontal chest X-ray.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Why deep learning is used.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CNNs can learn texture and opacity patterns that correlate with consolidation, but they do not automatically know anatomy or uncertainty.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The healthcare requirement.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 clinician needs more than a label. They need: How sure is the model? Where did it look? Should this output be trusted or reviewed?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Dataset used.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Public Kaggle Chest X-Ray Pneumonia dataset (pediatric CXRs, NORMAL / PNEUMONIA folders, train–val–test split with no train/val leakage).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 / 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Why “high accuracy” is not the same as trustworthy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91440" cy="4937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1. Black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A CNN maps pixels to a probability, but does not say which pixels mattered. In medicine, a right answer for the wrong reason (text markers, tubes, laterality letters) is dangerous.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91440" cy="4937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2. Overconfidence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Modern networks often output 0.99 even when they are guessing. Uncalibrated confidence misleads triage: people treat 99% as certainty. We measure this with Expected Calibration Error (ECE).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91440" cy="4937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3. Silent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On damaged images, non-chest photos, or domain shift, a vanilla model still prints a class. Safe systems must flag Out-of-Distribution (OOD) cases as UNRELIABLE instead of guessing.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 / 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Project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Not only detect pneumonia.   </a:t>
            </a:r>
            <a:r>
              <a:rPr sz="1600" b="0">
                <a:solidFill>
                  <a:srgbClr val="000000"/>
                </a:solidFill>
                <a:latin typeface="Calibri"/>
              </a:rPr>
              <a:t>Build a decision-support pipeline that returns a diagnosis plus evidence and a safety score.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Four outputs for every image.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(1) Predicted class, (2) calibrated confidence, (3) visual explanation (Grad-CAM), (4) TrustScore / trust level / OOD flag.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Design principle.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If any safety signal is weak — low focus on lungs, high uncertainty, or low confidence — the system should downgrade trust instead of looking certain.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Intended use.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Academic demonstration of trustworthy ML for Health care Data Analytics. Not for real patient care or regulatory deployment.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 / 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System architecture —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788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91440" cy="5029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4231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CNN backbone (default ResNet18). Input 224×224 ImageNet-normalized X-ray. Output: one logit → sigmoid → P(Pneumonia). Loss: BCE with logits. Optimizer: Adam, learning rate 1e-4.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34440"/>
            <a:ext cx="2788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91440" cy="502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91640"/>
            <a:ext cx="24231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Post-hoc Temperature Scaling on the validation set. p_cal = sigmoid(logit / T). Accuracy stays the same; probabilities become honest. We track ECE and reliability diagrams.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2788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91440" cy="5029200"/>
          </a:xfrm>
          <a:prstGeom prst="rect">
            <a:avLst/>
          </a:prstGeom>
          <a:solidFill>
            <a:srgbClr val="31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24231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Grad-CAM heatmap from the last convolutional layer. FocusScore = area(CAM ∩ lung prior) / area(CAM). Penalizes attention on collars, text, or corners.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34440"/>
            <a:ext cx="2788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234440"/>
            <a:ext cx="91440" cy="5029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91640"/>
            <a:ext cx="24231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MC Dropout variance + optional ensemble agreement. TrustEngine multiplies the signals and can raise an OOD / UNRELIABLE flag.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 / 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1 — CNN classifier (ResNet18 by default)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Task.   </a:t>
            </a:r>
            <a:r>
              <a:rPr sz="1600" b="0">
                <a:solidFill>
                  <a:srgbClr val="000000"/>
                </a:solidFill>
                <a:latin typeface="Calibri"/>
              </a:rPr>
              <a:t>One image in → one probability out. If P(Pneumonia) ≥ 0.5 we predict PNEUMONIA, else NORMAL.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Why ResNet18.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 residual network pretrained on ImageNet. Transfer learning reuses generic visual filters, then we replace the last layer with a single logit and dropout. Dropout is required so Monte Carlo uncertainty is not always zero.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Other backbones supported.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Custom CNN, VGG16, DenseNet121, EfficientNet-B0 — same training and Grad-CAM interface.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Training hygiene.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Best checkpoint is saved from validation accuracy. Train and validation images are disjoint. Test images are held out until evaluation.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What this layer cannot do.   </a:t>
            </a:r>
            <a:r>
              <a:rPr sz="1600" b="0">
                <a:solidFill>
                  <a:srgbClr val="000000"/>
                </a:solidFill>
                <a:latin typeface="Calibri"/>
              </a:rPr>
              <a:t>It does not know if the probability is calibrated, if the model looked at lungs, or if the input is even a chest X-ray. Those jobs belong to later layers.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 / 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2 — Probability calibration (temperature scaling)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The idea in one sentence.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If the model says 80% pneumonia, then among all cases scored ~80%, about 80% should actually be pneumonia.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Method.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We keep the trained CNN frozen. We learn one scalar temperature T on the validation set by minimizing negative log-likelihood (cross-entropy on probabilities).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Formula.   </a:t>
            </a:r>
            <a:r>
              <a:rPr sz="1600" b="0">
                <a:solidFill>
                  <a:srgbClr val="000000"/>
                </a:solidFill>
                <a:latin typeface="Calibri"/>
              </a:rPr>
              <a:t>p_calibrated = sigmoid(logit / T). T &gt; 1 softens overconfident logits; T &lt; 1 would sharpen them. Ranking of cases does not change, so accuracy is unchanged.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ECE (Expected Calibration Error).   </a:t>
            </a:r>
            <a:r>
              <a:rPr sz="1600" b="0">
                <a:solidFill>
                  <a:srgbClr val="000000"/>
                </a:solidFill>
                <a:latin typeface="Calibri"/>
              </a:rPr>
              <a:t>Split predictions into confidence bins. In each bin, compare average confidence with actual accuracy. ECE is the weighted average of those gaps. Lower is better.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Reliability diagram.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 plot of confidence vs accuracy. A trustworthy model hugs the diagonal. After temperature scaling this curve typically moves closer to the diagonal.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 /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3a — Grad-CAM: where did the network look?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Name.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Gradient-weighted Class Activation Mapping (Selvaraju et al.).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How it is computed.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Forward pass to the last conv layer (activations). Backward pass of the target class logit (gradients). Channel weights = global-average of gradients. Weighted sum of activation maps → ReLU → upsample to 224×224 → overlay on the X-ray.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How to read the heatmap.   </a:t>
            </a:r>
            <a:r>
              <a:rPr sz="1600" b="0">
                <a:solidFill>
                  <a:srgbClr val="000000"/>
                </a:solidFill>
                <a:latin typeface="Calibri"/>
              </a:rPr>
              <a:t>Warm colors = regions that most increased the predicted class score. A pneumonia call should light up lung fields / consolidation, not the ‘R’ marker or the image border.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Clinical value.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Lets a human audit the reason. If Grad-CAM highlights a pacemaker or a tube, the prediction is a shortcut, not pathology.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Limitation.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 pretty heatmap is still qualitative. We therefore convert it into a number: FocusScore.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 / 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3b — FocusScore: is the explanation on the lungs?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Why we added it.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Grad-CAM alone does not fail the model when the blob is in the wrong place. FocusScore makes anatomy a hard constraint.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Lung mask.   </a:t>
            </a:r>
            <a:r>
              <a:rPr sz="1600" b="0">
                <a:solidFill>
                  <a:srgbClr val="000000"/>
                </a:solidFill>
                <a:latin typeface="Calibri"/>
              </a:rPr>
              <a:t>If a trained lung U-Net is available we use it. Otherwise we use a geometric prior: a central rectangle that roughly covers the lung fields on a frontal CXR. The demo uses this prior so the pipeline always runs.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Formula.   </a:t>
            </a:r>
            <a:r>
              <a:rPr sz="1600" b="0">
                <a:solidFill>
                  <a:srgbClr val="000000"/>
                </a:solidFill>
                <a:latin typeface="Calibri"/>
              </a:rPr>
              <a:t>FocusScore = Area(high-activation Grad-CAM ∩ lung mask) / Area(high-activation Grad-CAM). Values near 1 mean the explanation is inside lungs; near 0 means it is mostly outside.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Threshold.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Grad-CAM is binarised at 0.4 before overlap is computed, so faint noise is ignored.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Effect on trust.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Low FocusScore pulls TrustScore down and can force a Low trust level, even if confidence is high.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 / 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4a — Uncertainty with Monte Carlo Dropout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Reference.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Gal &amp; Ghahramani (2016): dropout at test time is a cheap Bayesian approximation.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Procedure.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Keep BatchNorm in eval mode, but turn Dropout layers ON. Run N stochastic forward passes (default 30 in full inference). Each pass gives a slightly different P(Pneumonia).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Statistics.   </a:t>
            </a:r>
            <a:r>
              <a:rPr sz="1600" b="0">
                <a:solidFill>
                  <a:srgbClr val="000000"/>
                </a:solidFill>
                <a:latin typeface="Calibri"/>
              </a:rPr>
              <a:t>Mean of the N probabilities = raw confidence. Variance of the N probabilities = uncertainty score. High variance means the model’s answer is unstable.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How to interpret.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Low variance: the network is consistently sure (still may be consistently wrong). High variance: the network ‘does not know’ — hard case or OOD input.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Implementation note.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Stock ResNet18 has no dropout in the head. We add Dropout(0.5) before the final linear layer so this uncertainty signal actually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 / 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4b — Ensemble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Idea.   </a:t>
            </a:r>
            <a:r>
              <a:rPr sz="1600" b="0">
                <a:solidFill>
                  <a:srgbClr val="000000"/>
                </a:solidFill>
                <a:latin typeface="Calibri"/>
              </a:rPr>
              <a:t>One architecture can be biased. If ResNet18 and DenseNet121 disagree on the same X-ray, that disagreement is a warning.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AgreementScore.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Each model votes NORMAL or PNEUMONIA. Agreement = (number of models in the majority) / (total models). Range is [0, 1].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In a single-model demo.   </a:t>
            </a:r>
            <a:r>
              <a:rPr sz="1600" b="0">
                <a:solidFill>
                  <a:srgbClr val="000000"/>
                </a:solidFill>
                <a:latin typeface="Calibri"/>
              </a:rPr>
              <a:t>Only one vote exists, so agreement is 1.0 by definition. The code still accepts extra checkpoints (--densenet_dir, --efficientnet_dir) for a true ensemble.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Role in TrustScore.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Agreement is a multiplier. Disagreement cannot be hidden by high confidence from a single 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 / 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TrustEngine — one number, three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Formula.   </a:t>
            </a:r>
            <a:r>
              <a:rPr sz="1600" b="0">
                <a:solidFill>
                  <a:srgbClr val="000000"/>
                </a:solidFill>
                <a:latin typeface="Calibri"/>
              </a:rPr>
              <a:t>TrustScore = Confidence_calibrated × FocusScore × (1 − Uncertainty) × AgreementScore. Each term is clipped to [0, 1]. Confidence uses max(p, 1−p) so a confident NORMAL is not punished.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Why multiply, not add.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 single failed safety check should collapse trust. Addition would let a 0.99 confidence hide a 0.1 focus score.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High trust.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Calibrated confidence &gt; 0.8 and uncertainty &lt; 0.1 (and focus not critically low). Suitable to display as a stable screening suggestion.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Medium trust.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Borderline confidence or moderate uncertainty. Show the heatmap and ask for review.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Low trust.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Uncertainty &gt; 0.3 or FocusScore &lt; 0.35. Do not treat the class label as reliable.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 / 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Out-of-distribution (OOD) / UNRELIABLE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Safe failure.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In clinic, refusing to answer can be better than a confident wrong answer on a blurry photo or an abdominal film.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Hard rule in this project.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Flag UNRELIABLE if calibrated confidence &lt; 0.6 AND MC variance &gt; 0.03.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What this catches.   </a:t>
            </a:r>
            <a:r>
              <a:rPr sz="1600" b="0">
                <a:solidFill>
                  <a:srgbClr val="000000"/>
                </a:solidFill>
                <a:latin typeface="Calibri"/>
              </a:rPr>
              <a:t>Low confidence plus unstable dropout samples — typical of inputs the CNN never saw in training.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What this is not.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It is not a full OOD detector (no dedicated outlier model). It is a conservative gate using signals we already compute.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How it is shown.   </a:t>
            </a:r>
            <a:r>
              <a:rPr sz="1600" b="0">
                <a:solidFill>
                  <a:srgbClr val="000000"/>
                </a:solidFill>
                <a:latin typeface="Calibri"/>
              </a:rPr>
              <a:t>The Streamlit app and the 4-panel inference figure print OOD flag = True/False next to the trust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 / 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End-to-end inference (one image)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8080"/>
                </a:solidFill>
                <a:latin typeface="Calibri"/>
              </a:rPr>
              <a:t>Step 1.   </a:t>
            </a:r>
            <a:r>
              <a:rPr sz="1500" b="0">
                <a:solidFill>
                  <a:srgbClr val="000000"/>
                </a:solidFill>
                <a:latin typeface="Calibri"/>
              </a:rPr>
              <a:t>Load X-ray, resize to 224×224, ImageNet-normalize.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8080"/>
                </a:solidFill>
                <a:latin typeface="Calibri"/>
              </a:rPr>
              <a:t>Step 2.   </a:t>
            </a:r>
            <a:r>
              <a:rPr sz="1500" b="0">
                <a:solidFill>
                  <a:srgbClr val="000000"/>
                </a:solidFill>
                <a:latin typeface="Calibri"/>
              </a:rPr>
              <a:t>MC Dropout → mean P(Pneumonia) and variance.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8080"/>
                </a:solidFill>
                <a:latin typeface="Calibri"/>
              </a:rPr>
              <a:t>Step 3.   </a:t>
            </a:r>
            <a:r>
              <a:rPr sz="1500" b="0">
                <a:solidFill>
                  <a:srgbClr val="000000"/>
                </a:solidFill>
                <a:latin typeface="Calibri"/>
              </a:rPr>
              <a:t>Single deterministic forward pass → logit → temperature scaling → calibrated confidence.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8080"/>
                </a:solidFill>
                <a:latin typeface="Calibri"/>
              </a:rPr>
              <a:t>Step 4.   </a:t>
            </a:r>
            <a:r>
              <a:rPr sz="1500" b="0">
                <a:solidFill>
                  <a:srgbClr val="000000"/>
                </a:solidFill>
                <a:latin typeface="Calibri"/>
              </a:rPr>
              <a:t>Grad-CAM on the last conv layer → overlay; lung prior → FocusScore.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8080"/>
                </a:solidFill>
                <a:latin typeface="Calibri"/>
              </a:rPr>
              <a:t>Step 5.   </a:t>
            </a:r>
            <a:r>
              <a:rPr sz="1500" b="0">
                <a:solidFill>
                  <a:srgbClr val="000000"/>
                </a:solidFill>
                <a:latin typeface="Calibri"/>
              </a:rPr>
              <a:t>Optional extra models → AgreementScore.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8080"/>
                </a:solidFill>
                <a:latin typeface="Calibri"/>
              </a:rPr>
              <a:t>Step 6.   </a:t>
            </a:r>
            <a:r>
              <a:rPr sz="1500" b="0">
                <a:solidFill>
                  <a:srgbClr val="000000"/>
                </a:solidFill>
                <a:latin typeface="Calibri"/>
              </a:rPr>
              <a:t>TrustEngine → TrustScore, trust level, OOD flag.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8080"/>
                </a:solidFill>
                <a:latin typeface="Calibri"/>
              </a:rPr>
              <a:t>Human-facing output.   </a:t>
            </a:r>
            <a:r>
              <a:rPr sz="1500" b="0">
                <a:solidFill>
                  <a:srgbClr val="000000"/>
                </a:solidFill>
                <a:latin typeface="Calibri"/>
              </a:rPr>
              <a:t>A four-panel figure: original X-ray, Grad-CAM overlay, MC histogram, and a metrics/trust summary. Also exposed as a Streamlit web app and a Colab notebook.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 / 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How we evaluate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91440" cy="4937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Discrimination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Accuracy, Precision, Recall, F1-score, confusion matrix, ROC-AUC, and precision–recall. These answer: does the class label match the test set?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91440" cy="4937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ECE before vs after temperature scaling; reliability diagrams; confidence histograms. These answer: is 80% actually 80%?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91440" cy="4937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Calibri"/>
              </a:rPr>
              <a:t>Trust &amp; XAI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Calibri"/>
              </a:rPr>
              <a:t>FocusScore distribution, TrustScore histogram, trust-level counts, uncertainty vs confidence (correct vs wrong), Grad-CAM gallery. These answer: should a person believe this case?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 /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Demonstration for faculty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08080"/>
                </a:solidFill>
                <a:latin typeface="Calibri"/>
              </a:rPr>
              <a:t>Google Colab + GPU.   </a:t>
            </a:r>
            <a:r>
              <a:rPr sz="1400" b="0">
                <a:solidFill>
                  <a:srgbClr val="000000"/>
                </a:solidFill>
                <a:latin typeface="Calibri"/>
              </a:rPr>
              <a:t>Download Kaggle data, train, calibrate, evaluate, then generate a 12-plot faculty figure pack.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8080"/>
                </a:solidFill>
                <a:latin typeface="Calibri"/>
              </a:rPr>
              <a:t>Upload an X-ray.   </a:t>
            </a:r>
            <a:r>
              <a:rPr sz="1400" b="0">
                <a:solidFill>
                  <a:srgbClr val="000000"/>
                </a:solidFill>
                <a:latin typeface="Calibri"/>
              </a:rPr>
              <a:t>The notebook / Streamlit UI accepts a jpg/png and prints class, confidence, uncertainty, focus, and trust.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8080"/>
                </a:solidFill>
                <a:latin typeface="Calibri"/>
              </a:rPr>
              <a:t>Streamlit app (app.py).   </a:t>
            </a:r>
            <a:r>
              <a:rPr sz="1400" b="0">
                <a:solidFill>
                  <a:srgbClr val="000000"/>
                </a:solidFill>
                <a:latin typeface="Calibri"/>
              </a:rPr>
              <a:t>Browser frontend with tabs: Screen an X-ray, Faculty graphs, Pipeline results, How it works.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8080"/>
                </a:solidFill>
                <a:latin typeface="Calibri"/>
              </a:rPr>
              <a:t>What to say in 30 seconds.   </a:t>
            </a:r>
            <a:r>
              <a:rPr sz="1400" b="0">
                <a:solidFill>
                  <a:srgbClr val="000000"/>
                </a:solidFill>
                <a:latin typeface="Calibri"/>
              </a:rPr>
              <a:t>We do not stop at accuracy. Every prediction is calibrated, visually explained, uncertainty-aware, and assigned a trust level.</a:t>
            </a:r>
          </a:p>
        </p:txBody>
      </p:sp>
      <p:pic>
        <p:nvPicPr>
          <p:cNvPr id="6" name="Picture 5" descr="Screenshot 2026-09-23 0958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486400" cy="3484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 / 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Honest limitations (important for healthcare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Not a medical device.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No clinical trial, no radiologist reader study, no FDA/CE pathway. Classroom / research demo only.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Dataset bias.   </a:t>
            </a:r>
            <a:r>
              <a:rPr sz="1600" b="0">
                <a:solidFill>
                  <a:srgbClr val="000000"/>
                </a:solidFill>
                <a:latin typeface="Calibri"/>
              </a:rPr>
              <a:t>Kaggle CXR pneumonia is a known, relatively easy pediatric set. Hospital data will look different (devices, views, adult pathology, COVID, TB).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Lung mask is a prior unless a U-Net is provided.   </a:t>
            </a:r>
            <a:r>
              <a:rPr sz="1600" b="0">
                <a:solidFill>
                  <a:srgbClr val="000000"/>
                </a:solidFill>
                <a:latin typeface="Calibri"/>
              </a:rPr>
              <a:t>FocusScore is still useful, but it is not a radiologist-grade segmentation.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Single-model agreement is 1.0.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 true ensemble needs extra trained checkpoints.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Shortcuts still possible.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Grad-CAM helps us see them; it does not automatically remove dataset leakage.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 /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What we built.   </a:t>
            </a:r>
            <a:r>
              <a:rPr sz="1600" b="0">
                <a:solidFill>
                  <a:srgbClr val="000000"/>
                </a:solidFill>
                <a:latin typeface="Calibri"/>
              </a:rPr>
              <a:t>A full trustworthy pipeline: CNN + temperature scaling + Grad-CAM + FocusScore + MC Dropout + TrustEngine + OOD flag + evaluation plots + Streamlit UI.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What we showed conceptually.   </a:t>
            </a:r>
            <a:r>
              <a:rPr sz="1600" b="0">
                <a:solidFill>
                  <a:srgbClr val="000000"/>
                </a:solidFill>
                <a:latin typeface="Calibri"/>
              </a:rPr>
              <a:t>Trustworthy medical AI is a stack of complementary checks, not a single accuracy number.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Next technical steps.   </a:t>
            </a:r>
            <a:r>
              <a:rPr sz="1600" b="0">
                <a:solidFill>
                  <a:srgbClr val="000000"/>
                </a:solidFill>
                <a:latin typeface="Calibri"/>
              </a:rPr>
              <a:t>DICOM/PACS integration; multi-class pulmonary disease; a real lung segmentation network; human-in-the-loop reader studies.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8080"/>
                </a:solidFill>
                <a:latin typeface="Calibri"/>
              </a:rPr>
              <a:t>Take-home line.   </a:t>
            </a:r>
            <a:r>
              <a:rPr sz="1600" b="0">
                <a:solidFill>
                  <a:srgbClr val="000000"/>
                </a:solidFill>
                <a:latin typeface="Calibri"/>
              </a:rPr>
              <a:t>If the model is unsure, unfocused, or uncalibrated, it should say so — that is the difference between a black box and a decision-support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 /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AD2DC"/>
                </a:solidFill>
                <a:latin typeface="Calibri"/>
              </a:rPr>
              <a:t>Questions from faculty are welcome — especially on calibration, Grad-CAM, and why trust is multiplicative.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sz="1600" b="1">
                <a:solidFill>
                  <a:srgbClr val="FFC000"/>
                </a:solidFill>
                <a:latin typeface="Calibri"/>
              </a:rPr>
              <a:t>Team: Goutham Kumar  ·  Adhithiyan C  ·  Vaibhav Pk  ·  Yadarth Sangem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Course: Health care Data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